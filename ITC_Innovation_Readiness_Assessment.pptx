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 state</c:v>
                </c:pt>
              </c:strCache>
            </c:strRef>
          </c:tx>
          <c:spPr>
            <a:solidFill>
              <a:srgbClr val="2F6F9E"/>
            </a:solidFill>
          </c:spPr>
          <c:cat>
            <c:strRef>
              <c:f>Sheet1!$A$2:$A$6</c:f>
              <c:strCache>
                <c:ptCount val="5"/>
                <c:pt idx="0">
                  <c:v>Ecosystem
Stability</c:v>
                </c:pt>
                <c:pt idx="1">
                  <c:v>Risk
Tolerance</c:v>
                </c:pt>
                <c:pt idx="2">
                  <c:v>Knowledge
Mgmt</c:v>
                </c:pt>
                <c:pt idx="3">
                  <c:v>Anticipatory
Innovation</c:v>
                </c:pt>
                <c:pt idx="4">
                  <c:v>Scalability
(“Accordion”)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4.6</c:v>
                </c:pt>
                <c:pt idx="1">
                  <c:v>4.07</c:v>
                </c:pt>
                <c:pt idx="2">
                  <c:v>3.96</c:v>
                </c:pt>
                <c:pt idx="3">
                  <c:v>3.75</c:v>
                </c:pt>
                <c:pt idx="4">
                  <c:v>3.04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state</c:v>
                </c:pt>
              </c:strCache>
            </c:strRef>
          </c:tx>
          <c:spPr>
            <a:solidFill>
              <a:srgbClr val="7FB4C7"/>
            </a:solidFill>
          </c:spPr>
          <c:cat>
            <c:strRef>
              <c:f>Sheet1!$A$2:$A$6</c:f>
              <c:strCache>
                <c:ptCount val="5"/>
                <c:pt idx="0">
                  <c:v>Ecosystem
Stability</c:v>
                </c:pt>
                <c:pt idx="1">
                  <c:v>Risk
Tolerance</c:v>
                </c:pt>
                <c:pt idx="2">
                  <c:v>Knowledge
Mgmt</c:v>
                </c:pt>
                <c:pt idx="3">
                  <c:v>Anticipatory
Innovation</c:v>
                </c:pt>
                <c:pt idx="4">
                  <c:v>Scalability
(“Accordion”)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4.82</c:v>
                </c:pt>
                <c:pt idx="1">
                  <c:v>4.55</c:v>
                </c:pt>
                <c:pt idx="2">
                  <c:v>4.81</c:v>
                </c:pt>
                <c:pt idx="3">
                  <c:v>4.61</c:v>
                </c:pt>
                <c:pt idx="4">
                  <c:v>4.93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2F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FB4C7"/>
                </a:solidFill>
                <a:latin typeface="Calibri"/>
              </a:rPr>
              <a:t>ORGANIZATIONAL INNOVATION · RUNI MBA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ITC Innovation Readiness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CFDDE8"/>
                </a:solidFill>
                <a:latin typeface="Calibri"/>
              </a:rPr>
              <a:t>Background, challenges, an evidence-grounded assessment model, and a one-year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CFDDE8"/>
                </a:solidFill>
                <a:latin typeface="Calibri"/>
              </a:rPr>
              <a:t>innovation improvement plan for Israel Trauma Coalition.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Team: Goldie · Esti · Mika · Amit · 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9E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324D"/>
                </a:solidFill>
                <a:latin typeface="Calibri"/>
              </a:rPr>
              <a:t>What we'll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solidFill>
            <a:srgbClr val="E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2F6F9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830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7324D"/>
                </a:solidFill>
                <a:latin typeface="Calibri"/>
              </a:rPr>
              <a:t>Background &amp;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7627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67085"/>
                </a:solidFill>
                <a:latin typeface="Calibri"/>
              </a:rPr>
              <a:t>Who ITC is, and the operating reality it faces post–October 7th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solidFill>
            <a:srgbClr val="E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2F6F9E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346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7324D"/>
                </a:solidFill>
                <a:latin typeface="Calibri"/>
              </a:rPr>
              <a:t>The Assessment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2783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67085"/>
                </a:solidFill>
                <a:latin typeface="Calibri"/>
              </a:rPr>
              <a:t>5 evidence-grounded capabilities, current vs. target scoring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solidFill>
            <a:srgbClr val="E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2F6F9E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862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7324D"/>
                </a:solidFill>
                <a:latin typeface="Calibri"/>
              </a:rPr>
              <a:t>Simulated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793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67085"/>
                </a:solidFill>
                <a:latin typeface="Calibri"/>
              </a:rPr>
              <a:t>A rehearsal application of the model — hypotheses, not verified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83480"/>
            <a:ext cx="640080" cy="640080"/>
          </a:xfrm>
          <a:prstGeom prst="rect">
            <a:avLst/>
          </a:prstGeom>
          <a:solidFill>
            <a:srgbClr val="E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834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2F6F9E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93776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7324D"/>
                </a:solidFill>
                <a:latin typeface="Calibri"/>
              </a:rPr>
              <a:t>One-Year Innovation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309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67085"/>
                </a:solidFill>
                <a:latin typeface="Calibri"/>
              </a:rPr>
              <a:t>Priority actions, first-90-days MVC, and what needs real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085"/>
                </a:solidFill>
                <a:latin typeface="Calibri"/>
              </a:rPr>
              <a:t>ITC Innovation Readiness Assessment · Organizational Innovation, RUNI MBA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9E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324D"/>
                </a:solidFill>
                <a:latin typeface="Calibri"/>
              </a:rPr>
              <a:t>Who is Israel Trauma Coalition (ITC)?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 b="1">
                <a:solidFill>
                  <a:srgbClr val="17324D"/>
                </a:solidFill>
                <a:latin typeface="Calibri"/>
              </a:rPr>
              <a:t>Founded 2001,  </a:t>
            </a:r>
            <a:r>
              <a:rPr sz="1500">
                <a:solidFill>
                  <a:srgbClr val="1F2937"/>
                </a:solidFill>
                <a:latin typeface="Calibri"/>
              </a:rPr>
              <a:t>initiated by UJA-Federation of New York — now the national coordinating body for trauma care and emergency preparedness in Israel.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 b="1">
                <a:solidFill>
                  <a:srgbClr val="17324D"/>
                </a:solidFill>
                <a:latin typeface="Calibri"/>
              </a:rPr>
              <a:t>A coalition, not an operator:  </a:t>
            </a:r>
            <a:r>
              <a:rPr sz="1500">
                <a:solidFill>
                  <a:srgbClr val="1F2937"/>
                </a:solidFill>
                <a:latin typeface="Calibri"/>
              </a:rPr>
              <a:t>58 member organizations, associations, and government ministries working on emergency response and psychosocial trauma recovery.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 b="1">
                <a:solidFill>
                  <a:srgbClr val="17324D"/>
                </a:solidFill>
                <a:latin typeface="Calibri"/>
              </a:rPr>
              <a:t>12 Resilience Centers,  </a:t>
            </a:r>
            <a:r>
              <a:rPr sz="1500">
                <a:solidFill>
                  <a:srgbClr val="1F2937"/>
                </a:solidFill>
                <a:latin typeface="Calibri"/>
              </a:rPr>
              <a:t>operating since 2007 under a formal 2005 partnership with the Government of Israel and key ministries.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 b="1">
                <a:solidFill>
                  <a:srgbClr val="17324D"/>
                </a:solidFill>
                <a:latin typeface="Calibri"/>
              </a:rPr>
              <a:t>Leadership:  </a:t>
            </a:r>
            <a:r>
              <a:rPr sz="1500">
                <a:solidFill>
                  <a:srgbClr val="1F2937"/>
                </a:solidFill>
                <a:latin typeface="Calibri"/>
              </a:rPr>
              <a:t>CEO Talia Levanon; Amit Oron leads operational and organizational integration, with a mandate for cross-organizational process and innovation.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 b="1">
                <a:solidFill>
                  <a:srgbClr val="17324D"/>
                </a:solidFill>
                <a:latin typeface="Calibri"/>
              </a:rPr>
              <a:t>International reach:  </a:t>
            </a:r>
            <a:r>
              <a:rPr sz="1500">
                <a:solidFill>
                  <a:srgbClr val="1F2937"/>
                </a:solidFill>
                <a:latin typeface="Calibri"/>
              </a:rPr>
              <a:t>trauma-response missions to Ukraine, Japan, and France.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737360"/>
            <a:ext cx="4023360" cy="4297680"/>
          </a:xfrm>
          <a:prstGeom prst="rect">
            <a:avLst/>
          </a:prstGeom>
          <a:solidFill>
            <a:srgbClr val="E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F6F9E"/>
                </a:solidFill>
                <a:latin typeface="Calibri"/>
              </a:rPr>
              <a:t>Core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31720"/>
            <a:ext cx="34747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7324D"/>
                </a:solidFill>
                <a:latin typeface="Calibri"/>
              </a:rPr>
              <a:t>“Equips individuals, communities, and professionals with the tools and knowledge needed to cope before, during, and after emergencies.”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085"/>
                </a:solidFill>
                <a:latin typeface="Calibri"/>
              </a:rPr>
              <a:t>ITC Innovation Readiness Assessment · Organizational Innovation, RUNI MBA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9E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324D"/>
                </a:solidFill>
                <a:latin typeface="Calibri"/>
              </a:rPr>
              <a:t>The operating challenge, right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2F6F9E"/>
                </a:solidFill>
              </a:rPr>
              <a:t>•  </a:t>
            </a:r>
            <a:r>
              <a:rPr sz="1600" b="1">
                <a:solidFill>
                  <a:srgbClr val="17324D"/>
                </a:solidFill>
                <a:latin typeface="Calibri"/>
              </a:rPr>
              <a:t>Since October 7th:  </a:t>
            </a:r>
            <a:r>
              <a:rPr sz="1600">
                <a:solidFill>
                  <a:srgbClr val="1F2937"/>
                </a:solidFill>
                <a:latin typeface="Calibri"/>
              </a:rPr>
              <a:t>15,000+ people treated; industry estimates cite a need for ~5,000 more therapists in affected areas — acute competition for talent and donor funding among member NGOs.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2F6F9E"/>
                </a:solidFill>
              </a:rPr>
              <a:t>•  </a:t>
            </a:r>
            <a:r>
              <a:rPr sz="1600" b="1">
                <a:solidFill>
                  <a:srgbClr val="17324D"/>
                </a:solidFill>
                <a:latin typeface="Calibri"/>
              </a:rPr>
              <a:t>The “Accordion” reality:  </a:t>
            </a:r>
            <a:r>
              <a:rPr sz="1600">
                <a:solidFill>
                  <a:srgbClr val="1F2937"/>
                </a:solidFill>
                <a:latin typeface="Calibri"/>
              </a:rPr>
              <a:t>ITC must expand and contract capacity rapidly with each crisis wave, without established IT/HR procedures built for that rhythm.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2F6F9E"/>
                </a:solidFill>
              </a:rPr>
              <a:t>•  </a:t>
            </a:r>
            <a:r>
              <a:rPr sz="1600" b="1">
                <a:solidFill>
                  <a:srgbClr val="17324D"/>
                </a:solidFill>
                <a:latin typeface="Calibri"/>
              </a:rPr>
              <a:t>A coming demand spike:  </a:t>
            </a:r>
            <a:r>
              <a:rPr sz="1600">
                <a:solidFill>
                  <a:srgbClr val="1F2937"/>
                </a:solidFill>
                <a:latin typeface="Calibri"/>
              </a:rPr>
              <a:t>a hypothesized post-ceasefire surge in therapy needs, arriving alongside donor fatigue and government-process delays.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2F6F9E"/>
                </a:solidFill>
              </a:rPr>
              <a:t>•  </a:t>
            </a:r>
            <a:r>
              <a:rPr sz="1600" b="1">
                <a:solidFill>
                  <a:srgbClr val="17324D"/>
                </a:solidFill>
                <a:latin typeface="Calibri"/>
              </a:rPr>
              <a:t>The core tension:  </a:t>
            </a:r>
            <a:r>
              <a:rPr sz="1600">
                <a:solidFill>
                  <a:srgbClr val="1F2937"/>
                </a:solidFill>
                <a:latin typeface="Calibri"/>
              </a:rPr>
              <a:t>an organization built for sustained crisis response is now being asked to also build proactive, scalable, institutional innovation capacity — at the same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085"/>
                </a:solidFill>
                <a:latin typeface="Calibri"/>
              </a:rPr>
              <a:t>ITC Innovation Readiness Assessment · Organizational Innovation, RUNI MBA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9E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324D"/>
                </a:solidFill>
                <a:latin typeface="Calibri"/>
              </a:rPr>
              <a:t>Why organizational innovation is the right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F2937"/>
                </a:solidFill>
                <a:latin typeface="Calibri"/>
              </a:rPr>
              <a:t>ITC's core value proposition is coordination and knowledge-sharing across a 58-organization ecosystem — not a single product or service. That makes organizational capability, not new-product design, the actual lever for improvement.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10607040" cy="2468880"/>
          </a:xfrm>
          <a:prstGeom prst="rect">
            <a:avLst/>
          </a:prstGeom>
          <a:solidFill>
            <a:srgbClr val="E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6F9E"/>
                </a:solidFill>
                <a:latin typeface="Calibri"/>
              </a:rPr>
              <a:t>Assignment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058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7324D"/>
                </a:solidFill>
                <a:latin typeface="Calibri"/>
              </a:rPr>
              <a:t>This assessment focuses on organizational innovation, organizational capabilities, and the management and implementation of strategic change — explicitly not on designing new ITC programs or services.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085"/>
                </a:solidFill>
                <a:latin typeface="Calibri"/>
              </a:rPr>
              <a:t>ITC Innovation Readiness Assessment · Organizational Innovation, RUNI MBA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9E"/>
                </a:solidFill>
                <a:latin typeface="Calibri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324D"/>
                </a:solidFill>
                <a:latin typeface="Calibri"/>
              </a:rPr>
              <a:t>Purpose, scope &amp;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 b="1">
                <a:solidFill>
                  <a:srgbClr val="17324D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evaluate ITC's capacity to sense opportunity, safely experiment, and institutionalize learning while operating under sustained crisis conditions.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 b="1">
                <a:solidFill>
                  <a:srgbClr val="17324D"/>
                </a:solidFill>
                <a:latin typeface="Calibri"/>
              </a:rPr>
              <a:t>Approach:  </a:t>
            </a:r>
            <a:r>
              <a:rPr sz="1500">
                <a:solidFill>
                  <a:srgbClr val="1F2937"/>
                </a:solidFill>
                <a:latin typeface="Calibri"/>
              </a:rPr>
              <a:t>an AI-assisted, custom model — drawing on the course's INSA framework and Organizational Innovation Map, adapted and justified specifically for ITC rather than adopted wholesale.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 b="1">
                <a:solidFill>
                  <a:srgbClr val="17324D"/>
                </a:solidFill>
                <a:latin typeface="Calibri"/>
              </a:rPr>
              <a:t>Respondents:  </a:t>
            </a:r>
            <a:r>
              <a:rPr sz="1500">
                <a:solidFill>
                  <a:srgbClr val="1F2937"/>
                </a:solidFill>
                <a:latin typeface="Calibri"/>
              </a:rPr>
              <a:t>HQ Leadership, Regional Field Coordinators, and Member NGO Leaders — to capture both strategic intent and lived, on-the-ground reality.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114800"/>
            <a:ext cx="10607040" cy="173736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FB4C7"/>
                </a:solidFill>
                <a:latin typeface="Calibri"/>
              </a:rPr>
              <a:t>MODEL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Direction  →  Enable  →  Discover  →  Act  →  Learn &amp;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085"/>
                </a:solidFill>
                <a:latin typeface="Calibri"/>
              </a:rPr>
              <a:t>ITC Innovation Readiness Assessment · Organizational Innovation, RUNI MBA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9E"/>
                </a:solidFill>
                <a:latin typeface="Calibri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324D"/>
                </a:solidFill>
                <a:latin typeface="Calibri"/>
              </a:rPr>
              <a:t>Five applied capabilities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5760720"/>
              </a:tblGrid>
              <a:tr h="7010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109728" marR="10972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 marL="109728" marR="10972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What it probes</a:t>
                      </a:r>
                    </a:p>
                  </a:txBody>
                  <a:tcPr marL="109728" marR="109728" anchor="ctr">
                    <a:solidFill>
                      <a:srgbClr val="17324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7324D"/>
                          </a:solidFill>
                        </a:rPr>
                        <a:t>Direction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7324D"/>
                          </a:solidFill>
                        </a:rPr>
                        <a:t>Anticipatory Innovation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1F2937"/>
                          </a:solidFill>
                        </a:rPr>
                        <a:t>Proactive planning vs. purely reactive crisis response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7324D"/>
                          </a:solidFill>
                        </a:rPr>
                        <a:t>Enable</a:t>
                      </a:r>
                    </a:p>
                  </a:txBody>
                  <a:tcPr marL="109728" marR="109728" anchor="ctr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7324D"/>
                          </a:solidFill>
                        </a:rPr>
                        <a:t>Risk Tolerance &amp; Psychological Safety</a:t>
                      </a:r>
                    </a:p>
                  </a:txBody>
                  <a:tcPr marL="109728" marR="109728" anchor="ctr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1F2937"/>
                          </a:solidFill>
                        </a:rPr>
                        <a:t>Can ITC safely pilot and fail small?</a:t>
                      </a:r>
                    </a:p>
                  </a:txBody>
                  <a:tcPr marL="109728" marR="109728" anchor="ctr">
                    <a:solidFill>
                      <a:srgbClr val="EDF4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7324D"/>
                          </a:solidFill>
                        </a:rPr>
                        <a:t>Discover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7324D"/>
                          </a:solidFill>
                        </a:rPr>
                        <a:t>Ecosystem Stability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1F2937"/>
                          </a:solidFill>
                        </a:rPr>
                        <a:t>Do partnerships hold under funding/talent competition?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7324D"/>
                          </a:solidFill>
                        </a:rPr>
                        <a:t>Act</a:t>
                      </a:r>
                    </a:p>
                  </a:txBody>
                  <a:tcPr marL="109728" marR="109728" anchor="ctr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7324D"/>
                          </a:solidFill>
                        </a:rPr>
                        <a:t>Scalability (“Accordion”)</a:t>
                      </a:r>
                    </a:p>
                  </a:txBody>
                  <a:tcPr marL="109728" marR="109728" anchor="ctr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1F2937"/>
                          </a:solidFill>
                        </a:rPr>
                        <a:t>Can IT/procedures expand &amp; contract under crisis load?</a:t>
                      </a:r>
                    </a:p>
                  </a:txBody>
                  <a:tcPr marL="109728" marR="109728" anchor="ctr">
                    <a:solidFill>
                      <a:srgbClr val="EDF4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7324D"/>
                          </a:solidFill>
                        </a:rPr>
                        <a:t>Learn &amp; Scale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7324D"/>
                          </a:solidFill>
                        </a:rPr>
                        <a:t>Knowledge Management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1F2937"/>
                          </a:solidFill>
                        </a:rPr>
                        <a:t>Is specialized trauma expertise captured, not lost?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085"/>
                </a:solidFill>
                <a:latin typeface="Calibri"/>
              </a:rPr>
              <a:t>ITC Innovation Readiness Assessment · Organizational Innovation, RUNI MBA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9E"/>
                </a:solidFill>
                <a:latin typeface="Calibri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324D"/>
                </a:solidFill>
                <a:latin typeface="Calibri"/>
              </a:rPr>
              <a:t>Scoring &amp; analysis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2F6F9E"/>
                </a:solidFill>
              </a:rPr>
              <a:t>•  </a:t>
            </a:r>
            <a:r>
              <a:rPr sz="1600" b="1">
                <a:solidFill>
                  <a:srgbClr val="17324D"/>
                </a:solidFill>
                <a:latin typeface="Calibri"/>
              </a:rPr>
              <a:t>Every question  </a:t>
            </a:r>
            <a:r>
              <a:rPr sz="1600">
                <a:solidFill>
                  <a:srgbClr val="1F2937"/>
                </a:solidFill>
                <a:latin typeface="Calibri"/>
              </a:rPr>
              <a:t>rated twice — Current state (1–5) and Target state (1–5).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2F6F9E"/>
                </a:solidFill>
              </a:rPr>
              <a:t>•  </a:t>
            </a:r>
            <a:r>
              <a:rPr sz="1600" b="1">
                <a:solidFill>
                  <a:srgbClr val="17324D"/>
                </a:solidFill>
                <a:latin typeface="Calibri"/>
              </a:rPr>
              <a:t>Priority score:  </a:t>
            </a:r>
            <a:r>
              <a:rPr sz="1600">
                <a:solidFill>
                  <a:srgbClr val="1F2937"/>
                </a:solidFill>
                <a:latin typeface="Calibri"/>
              </a:rPr>
              <a:t>Target × (5 − Current) — high-target, low-current capabilities rise to the top.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2F6F9E"/>
                </a:solidFill>
              </a:rPr>
              <a:t>•  </a:t>
            </a:r>
            <a:r>
              <a:rPr sz="1600" b="1">
                <a:solidFill>
                  <a:srgbClr val="17324D"/>
                </a:solidFill>
                <a:latin typeface="Calibri"/>
              </a:rPr>
              <a:t>Innovation-barrier flag:  </a:t>
            </a:r>
            <a:r>
              <a:rPr sz="1600">
                <a:solidFill>
                  <a:srgbClr val="1F2937"/>
                </a:solidFill>
                <a:latin typeface="Calibri"/>
              </a:rPr>
              <a:t>a capability's average Current score &lt; 3.0, or its Current→Target gap ≥ 1.5.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2F6F9E"/>
                </a:solidFill>
              </a:rPr>
              <a:t>•  </a:t>
            </a:r>
            <a:r>
              <a:rPr sz="1600" b="1">
                <a:solidFill>
                  <a:srgbClr val="17324D"/>
                </a:solidFill>
                <a:latin typeface="Calibri"/>
              </a:rPr>
              <a:t>Stakeholder-divergence flag:  </a:t>
            </a:r>
            <a:r>
              <a:rPr sz="1600">
                <a:solidFill>
                  <a:srgbClr val="1F2937"/>
                </a:solidFill>
                <a:latin typeface="Calibri"/>
              </a:rPr>
              <a:t>a spread of ≥ 1.5 points between HQ Leadership, Field Coordinators, and Member NGO Leaders on the same capability — the “does leadership's story match the field's reality” check.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2F6F9E"/>
                </a:solidFill>
              </a:rPr>
              <a:t>•  </a:t>
            </a:r>
            <a:r>
              <a:rPr sz="1600" b="1">
                <a:solidFill>
                  <a:srgbClr val="17324D"/>
                </a:solidFill>
                <a:latin typeface="Calibri"/>
              </a:rPr>
              <a:t>Evidence discipline:  </a:t>
            </a:r>
            <a:r>
              <a:rPr sz="1600">
                <a:solidFill>
                  <a:srgbClr val="1F2937"/>
                </a:solidFill>
                <a:latin typeface="Calibri"/>
              </a:rPr>
              <a:t>every input tagged FACT / PERCEPTION / INTERPRETATION / UNKNOWN before it becomes a finding.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085"/>
                </a:solidFill>
                <a:latin typeface="Calibri"/>
              </a:rPr>
              <a:t>ITC Innovation Readiness Assessment · Organizational Innovation, RUNI MBA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9E"/>
                </a:solidFill>
                <a:latin typeface="Calibri"/>
              </a:rPr>
              <a:t>SIMULATED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324D"/>
                </a:solidFill>
                <a:latin typeface="Calibri"/>
              </a:rPr>
              <a:t>Scorecard — current vs.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36815" y="365760"/>
            <a:ext cx="4206240" cy="365760"/>
          </a:xfrm>
          <a:prstGeom prst="roundRect">
            <a:avLst/>
          </a:prstGeom>
          <a:solidFill>
            <a:srgbClr val="A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SIMULATED — NOT REAL DATA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680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503920" y="1737360"/>
            <a:ext cx="3017520" cy="4206240"/>
          </a:xfrm>
          <a:prstGeom prst="rect">
            <a:avLst/>
          </a:prstGeom>
          <a:solidFill>
            <a:srgbClr val="E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9202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6F9E"/>
                </a:solidFill>
                <a:latin typeface="Calibri"/>
              </a:rPr>
              <a:t>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331720"/>
            <a:ext cx="25603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7324D"/>
                </a:solidFill>
                <a:latin typeface="Calibri"/>
              </a:rPr>
              <a:t>Overall current state: 3.88/5.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7324D"/>
                </a:solidFill>
                <a:latin typeface="Calibri"/>
              </a:rPr>
              <a:t>Strongest: Ecosystem Stability (4.60).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7324D"/>
                </a:solidFill>
                <a:latin typeface="Calibri"/>
              </a:rPr>
              <a:t>Weakest &amp; highest priority: Scalability (3.04, gap 1.89).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7324D"/>
                </a:solidFill>
                <a:latin typeface="Calibri"/>
              </a:rPr>
              <a:t>Based on 12 simulated personas — a rehearsal, not real ITC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085"/>
                </a:solidFill>
                <a:latin typeface="Calibri"/>
              </a:rPr>
              <a:t>ITC Innovation Readiness Assessment · Organizational Innovation, RUNI MBA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9E"/>
                </a:solidFill>
                <a:latin typeface="Calibri"/>
              </a:rPr>
              <a:t>SIMULATED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324D"/>
                </a:solidFill>
                <a:latin typeface="Calibri"/>
              </a:rPr>
              <a:t>What's working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77679" y="365760"/>
            <a:ext cx="1865376" cy="365760"/>
          </a:xfrm>
          <a:prstGeom prst="round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SIMULATED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607040" cy="4206240"/>
          </a:xfrm>
          <a:prstGeom prst="rect">
            <a:avLst/>
          </a:prstGeom>
          <a:solidFill>
            <a:srgbClr val="F0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F8F5B"/>
                </a:solidFill>
                <a:latin typeface="Calibri"/>
              </a:rPr>
              <a:t>🟢 Ecosystem Stability is a real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>
                <a:solidFill>
                  <a:srgbClr val="1F2937"/>
                </a:solidFill>
                <a:latin typeface="Calibri"/>
              </a:rPr>
              <a:t>Highest-rated capability, and the smallest current→target gap of all 5.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>
                <a:solidFill>
                  <a:srgbClr val="1F2937"/>
                </a:solidFill>
                <a:latin typeface="Calibri"/>
              </a:rPr>
              <a:t>Consistent with real evidence: ITC coordinates 58 member organizations under a formal government partnership since 2005.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F8F5B"/>
                </a:solidFill>
                <a:latin typeface="Calibri"/>
              </a:rPr>
              <a:t>🟢 Knowledge intent exists, even if execution lags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>
                <a:solidFill>
                  <a:srgbClr val="1F2937"/>
                </a:solidFill>
                <a:latin typeface="Calibri"/>
              </a:rPr>
              <a:t>Second-highest current score (3.96) — the organization already recognizes the need to capture trauma expertise.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>
                <a:solidFill>
                  <a:srgbClr val="1F2937"/>
                </a:solidFill>
                <a:latin typeface="Calibri"/>
              </a:rPr>
              <a:t>The gap here is about systematizing an existing instinct, not building one from nothing.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085"/>
                </a:solidFill>
                <a:latin typeface="Calibri"/>
              </a:rPr>
              <a:t>ITC Innovation Readiness Assessment · Organizational Innovation, RUNI MBA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9E"/>
                </a:solidFill>
                <a:latin typeface="Calibri"/>
              </a:rPr>
              <a:t>SIMULATED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324D"/>
                </a:solidFill>
                <a:latin typeface="Calibri"/>
              </a:rPr>
              <a:t>What's at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77679" y="365760"/>
            <a:ext cx="1865376" cy="365760"/>
          </a:xfrm>
          <a:prstGeom prst="roundRect">
            <a:avLst/>
          </a:prstGeom>
          <a:solidFill>
            <a:srgbClr val="C1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SIMULATED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607040" cy="4206240"/>
          </a:xfrm>
          <a:prstGeom prst="rect">
            <a:avLst/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C14F4F"/>
                </a:solidFill>
                <a:latin typeface="Calibri"/>
              </a:rPr>
              <a:t>🔴 Scalability is the #1 priority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>
                <a:solidFill>
                  <a:srgbClr val="1F2937"/>
                </a:solidFill>
                <a:latin typeface="Calibri"/>
              </a:rPr>
              <a:t>Lowest current score (3.04) and the widest gap to target (1.89 pts) — the single highest-priority finding in the model.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>
                <a:solidFill>
                  <a:srgbClr val="1F2937"/>
                </a:solidFill>
                <a:latin typeface="Calibri"/>
              </a:rPr>
              <a:t>Reads as: crisis surges handled by improvisation, not documented procedure — a real risk when institutional memory walks out the door.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A97A0E"/>
                </a:solidFill>
                <a:latin typeface="Calibri"/>
              </a:rPr>
              <a:t>🟠 A hypothesized leadership-vs-field disconnect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>
                <a:solidFill>
                  <a:srgbClr val="1F2937"/>
                </a:solidFill>
                <a:latin typeface="Calibri"/>
              </a:rPr>
              <a:t>Simulated Executive respondents consistently rate Risk Tolerance and Scalability higher than Field/Resilience-Center respondents.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>
                <a:solidFill>
                  <a:srgbClr val="1F2937"/>
                </a:solidFill>
                <a:latin typeface="Calibri"/>
              </a:rPr>
              <a:t>Unconfirmed — this is exactly what the real interview needs to test with one HQ voice and one field voice, asked the same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085"/>
                </a:solidFill>
                <a:latin typeface="Calibri"/>
              </a:rPr>
              <a:t>ITC Innovation Readiness Assessment · Organizational Innovation, RUNI MBA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9E"/>
                </a:solidFill>
                <a:latin typeface="Calibri"/>
              </a:rPr>
              <a:t>ONE-YEAR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324D"/>
                </a:solidFill>
                <a:latin typeface="Calibri"/>
              </a:rPr>
              <a:t>Three priority action areas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103120"/>
                <a:gridCol w="1737360"/>
                <a:gridCol w="1554480"/>
              </a:tblGrid>
              <a:tr h="10744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109728" marR="10972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Addresses</a:t>
                      </a:r>
                    </a:p>
                  </a:txBody>
                  <a:tcPr marL="109728" marR="10972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109728" marR="10972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 marL="109728" marR="109728" anchor="ctr">
                    <a:solidFill>
                      <a:srgbClr val="17324D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</a:rPr>
                        <a:t>Document the surge playbook — turn tribal-knowledge onboarding/IT procedures into a written, rehearsed protocol, piloted in one region.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</a:rPr>
                        <a:t>Scalability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</a:rPr>
                        <a:t>Operations lead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</a:rPr>
                        <a:t>90-day MVC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</a:rPr>
                        <a:t>Protect planning time from crisis mode — a standing, protected working session for post-ceasefire and future-demand scenarios.</a:t>
                      </a:r>
                    </a:p>
                  </a:txBody>
                  <a:tcPr marL="109728" marR="109728" anchor="ctr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</a:rPr>
                        <a:t>Anticipatory Innovation</a:t>
                      </a:r>
                    </a:p>
                  </a:txBody>
                  <a:tcPr marL="109728" marR="109728" anchor="ctr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</a:rPr>
                        <a:t>Leadership</a:t>
                      </a:r>
                    </a:p>
                  </a:txBody>
                  <a:tcPr marL="109728" marR="109728" anchor="ctr"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</a:rPr>
                        <a:t>Quarterly, ongoing</a:t>
                      </a:r>
                    </a:p>
                  </a:txBody>
                  <a:tcPr marL="109728" marR="109728" anchor="ctr">
                    <a:solidFill>
                      <a:srgbClr val="EDF4F8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</a:rPr>
                        <a:t>Validate the HQ–field gap, then close it — confirm divergence via real interviews; if real, open a direct two-way channel between HQ and Resilience Center directors.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</a:rPr>
                        <a:t>Risk Tolerance / Ecosystem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</a:rPr>
                        <a:t>All layers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</a:rPr>
                        <a:t>First 90 days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085"/>
                </a:solidFill>
                <a:latin typeface="Calibri"/>
              </a:rPr>
              <a:t>ITC Innovation Readiness Assessment · Organizational Innovation, RUNI MBA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9E"/>
                </a:solidFill>
                <a:latin typeface="Calibri"/>
              </a:rPr>
              <a:t>ONE-YEAR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324D"/>
                </a:solidFill>
                <a:latin typeface="Calibri"/>
              </a:rPr>
              <a:t>First 90 days: Minimum Viable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607040" cy="41148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FB4C7"/>
                </a:solidFill>
                <a:latin typeface="Calibri"/>
              </a:rPr>
              <a:t>MVC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Pilot a single documented onboarding/surge checklist in one Resilience Center.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9875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 b="1">
                <a:solidFill>
                  <a:srgbClr val="17324D"/>
                </a:solidFill>
                <a:latin typeface="Calibri"/>
              </a:rPr>
              <a:t>Scope:  </a:t>
            </a:r>
            <a:r>
              <a:rPr sz="1500">
                <a:solidFill>
                  <a:srgbClr val="E3ECF3"/>
                </a:solidFill>
                <a:latin typeface="Calibri"/>
              </a:rPr>
              <a:t>one region, one crisis-response function — narrow and reversible.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 b="1">
                <a:solidFill>
                  <a:srgbClr val="17324D"/>
                </a:solidFill>
                <a:latin typeface="Calibri"/>
              </a:rPr>
              <a:t>Success signal:  </a:t>
            </a:r>
            <a:r>
              <a:rPr sz="1500">
                <a:solidFill>
                  <a:srgbClr val="E3ECF3"/>
                </a:solidFill>
                <a:latin typeface="Calibri"/>
              </a:rPr>
              <a:t>new/reassigned staff can follow the checklist without relying on a specific person's memory.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 b="1">
                <a:solidFill>
                  <a:srgbClr val="17324D"/>
                </a:solidFill>
                <a:latin typeface="Calibri"/>
              </a:rPr>
              <a:t>Stop rule:  </a:t>
            </a:r>
            <a:r>
              <a:rPr sz="1500">
                <a:solidFill>
                  <a:srgbClr val="E3ECF3"/>
                </a:solidFill>
                <a:latin typeface="Calibri"/>
              </a:rPr>
              <a:t>if the checklist can't survive a real surge test, pivot back to the divergence-validation track (Action 3) before investing further.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2F6F9E"/>
                </a:solidFill>
              </a:rPr>
              <a:t>•  </a:t>
            </a:r>
            <a:r>
              <a:rPr sz="1500" b="1">
                <a:solidFill>
                  <a:srgbClr val="17324D"/>
                </a:solidFill>
                <a:latin typeface="Calibri"/>
              </a:rPr>
              <a:t>Risk:  </a:t>
            </a:r>
            <a:r>
              <a:rPr sz="1500">
                <a:solidFill>
                  <a:srgbClr val="E3ECF3"/>
                </a:solidFill>
                <a:latin typeface="Calibri"/>
              </a:rPr>
              <a:t>must remain trauma-sensitive by design — process changes should never come at the cost of client care during a live crisis.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085"/>
                </a:solidFill>
                <a:latin typeface="Calibri"/>
              </a:rPr>
              <a:t>ITC Innovation Readiness Assessment · Organizational Innovation, RUNI MBA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9E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324D"/>
                </a:solidFill>
                <a:latin typeface="Calibri"/>
              </a:rPr>
              <a:t>What still needs to be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2F6F9E"/>
                </a:solidFill>
              </a:rPr>
              <a:t>•  </a:t>
            </a:r>
            <a:r>
              <a:rPr sz="1600" b="1">
                <a:solidFill>
                  <a:srgbClr val="17324D"/>
                </a:solidFill>
                <a:latin typeface="Calibri"/>
              </a:rPr>
              <a:t>Everything on slides 9–11 is simulated  </a:t>
            </a:r>
            <a:r>
              <a:rPr sz="1600">
                <a:solidFill>
                  <a:srgbClr val="1F2937"/>
                </a:solidFill>
                <a:latin typeface="Calibri"/>
              </a:rPr>
              <a:t>— 12 invented personas, not real ITC responses. None of it may be presented as a finding without confirmation.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2F6F9E"/>
                </a:solidFill>
              </a:rPr>
              <a:t>•  </a:t>
            </a:r>
            <a:r>
              <a:rPr sz="1600" b="1">
                <a:solidFill>
                  <a:srgbClr val="17324D"/>
                </a:solidFill>
                <a:latin typeface="Calibri"/>
              </a:rPr>
              <a:t>Real evidence comes from the live interview:  </a:t>
            </a:r>
            <a:r>
              <a:rPr sz="1600">
                <a:solidFill>
                  <a:srgbClr val="1F2937"/>
                </a:solidFill>
                <a:latin typeface="Calibri"/>
              </a:rPr>
              <a:t>the Live Assessment tool collects actual Current/Target ratings from HQ, field, and member-NGO voices.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2F6F9E"/>
                </a:solidFill>
              </a:rPr>
              <a:t>•  </a:t>
            </a:r>
            <a:r>
              <a:rPr sz="1600" b="1">
                <a:solidFill>
                  <a:srgbClr val="17324D"/>
                </a:solidFill>
                <a:latin typeface="Calibri"/>
              </a:rPr>
              <a:t>Evidence discipline carries through:  </a:t>
            </a:r>
            <a:r>
              <a:rPr sz="1600">
                <a:solidFill>
                  <a:srgbClr val="1F2937"/>
                </a:solidFill>
                <a:latin typeface="Calibri"/>
              </a:rPr>
              <a:t>every real answer gets tagged FACT / PERCEPTION / INTERPRETATION / UNKNOWN before it enters the final report.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2F6F9E"/>
                </a:solidFill>
              </a:rPr>
              <a:t>•  </a:t>
            </a:r>
            <a:r>
              <a:rPr sz="1600" b="1">
                <a:solidFill>
                  <a:srgbClr val="17324D"/>
                </a:solidFill>
                <a:latin typeface="Calibri"/>
              </a:rPr>
              <a:t>AI use disclosed:  </a:t>
            </a:r>
            <a:r>
              <a:rPr sz="1600">
                <a:solidFill>
                  <a:srgbClr val="1F2937"/>
                </a:solidFill>
                <a:latin typeface="Calibri"/>
              </a:rPr>
              <a:t>model design, question drafting, and this deck were built with AI assistance (Claude), reviewed and adapted by the team — logged in the AI Use Appendix per course policy.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085"/>
                </a:solidFill>
                <a:latin typeface="Calibri"/>
              </a:rPr>
              <a:t>ITC Innovation Readiness Assessment · Organizational Innovation, RUNI MBA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9875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FDDE8"/>
                </a:solidFill>
                <a:latin typeface="Calibri"/>
              </a:rPr>
              <a:t>Next: validate these three priorities with real ITC voices — one HQ perspective and one field perspective, asked the same question, back to 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FB4C7"/>
                </a:solidFill>
                <a:latin typeface="Calibri"/>
              </a:rPr>
              <a:t>Israel Trauma Coalition Partner Project · Organizational Innovation, RUNI MBA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