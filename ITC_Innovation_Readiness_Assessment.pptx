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Current state</c:v>
                </c:pt>
              </c:strCache>
            </c:strRef>
          </c:tx>
          <c:spPr>
            <a:solidFill>
              <a:srgbClr val="101F33"/>
            </a:solidFill>
          </c:spPr>
          <c:cat>
            <c:strRef>
              <c:f>Sheet1!$A$2:$A$6</c:f>
              <c:strCache>
                <c:ptCount val="5"/>
                <c:pt idx="0">
                  <c:v>Ecosystem
Stability</c:v>
                </c:pt>
                <c:pt idx="1">
                  <c:v>Risk
Tolerance</c:v>
                </c:pt>
                <c:pt idx="2">
                  <c:v>Knowledge
Mgmt</c:v>
                </c:pt>
                <c:pt idx="3">
                  <c:v>Anticipatory
Innovation</c:v>
                </c:pt>
                <c:pt idx="4">
                  <c:v>Scalability
(“Accordion”)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4.6</c:v>
                </c:pt>
                <c:pt idx="1">
                  <c:v>4.07</c:v>
                </c:pt>
                <c:pt idx="2">
                  <c:v>3.96</c:v>
                </c:pt>
                <c:pt idx="3">
                  <c:v>3.75</c:v>
                </c:pt>
                <c:pt idx="4">
                  <c:v>3.04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state</c:v>
                </c:pt>
              </c:strCache>
            </c:strRef>
          </c:tx>
          <c:spPr>
            <a:solidFill>
              <a:srgbClr val="17C3A0"/>
            </a:solidFill>
          </c:spPr>
          <c:cat>
            <c:strRef>
              <c:f>Sheet1!$A$2:$A$6</c:f>
              <c:strCache>
                <c:ptCount val="5"/>
                <c:pt idx="0">
                  <c:v>Ecosystem
Stability</c:v>
                </c:pt>
                <c:pt idx="1">
                  <c:v>Risk
Tolerance</c:v>
                </c:pt>
                <c:pt idx="2">
                  <c:v>Knowledge
Mgmt</c:v>
                </c:pt>
                <c:pt idx="3">
                  <c:v>Anticipatory
Innovation</c:v>
                </c:pt>
                <c:pt idx="4">
                  <c:v>Scalability
(“Accordion”)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4.82</c:v>
                </c:pt>
                <c:pt idx="1">
                  <c:v>4.55</c:v>
                </c:pt>
                <c:pt idx="2">
                  <c:v>4.81</c:v>
                </c:pt>
                <c:pt idx="3">
                  <c:v>4.61</c:v>
                </c:pt>
                <c:pt idx="4">
                  <c:v>4.93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8F0"/>
            </a:solidFill>
          </a:ln>
        </c:spPr>
        <c:txPr>
          <a:bodyPr/>
          <a:lstStyle/>
          <a:p>
            <a:pPr>
              <a:defRPr sz="105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>
          <c:spPr>
            <a:ln>
              <a:solidFill>
                <a:srgbClr val="E3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351215" y="-2011680"/>
            <a:ext cx="6583680" cy="6583680"/>
          </a:xfrm>
          <a:prstGeom prst="ellipse">
            <a:avLst/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71455" y="2011680"/>
            <a:ext cx="2743200" cy="2743200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029200"/>
            <a:ext cx="3108960" cy="3108960"/>
          </a:xfrm>
          <a:prstGeom prst="ellipse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822960" cy="82296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C3A0"/>
                </a:solidFill>
                <a:latin typeface="Calibri"/>
              </a:rPr>
              <a:t>ORGANIZATIONAL INNOVATION  ·  RUNI MBA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98755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entury Gothic"/>
              </a:rPr>
              <a:t>ITC Innovation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entury Gothic"/>
              </a:rPr>
              <a:t>Readiness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ED9E6"/>
                </a:solidFill>
                <a:latin typeface="Calibri"/>
              </a:rPr>
              <a:t>Background, challenges, an evidence-grounded assessment model, and a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ED9E6"/>
                </a:solidFill>
                <a:latin typeface="Calibri"/>
              </a:rPr>
              <a:t>one-year innovation improvement plan for Israel Trauma Coalition.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5623560"/>
            <a:ext cx="2468880" cy="0"/>
          </a:xfrm>
          <a:prstGeom prst="line">
            <a:avLst/>
          </a:prstGeom>
          <a:ln w="12700">
            <a:solidFill>
              <a:srgbClr val="172A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57607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Team — Goldie · Esti · Mika · Amit · 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0E9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E9379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What we'll cover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0E93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2103120"/>
            <a:ext cx="2542032" cy="3657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542032" cy="82296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423160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C3A0"/>
                </a:solidFill>
                <a:latin typeface="Century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108960"/>
            <a:ext cx="2103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101F33"/>
                </a:solidFill>
                <a:latin typeface="Century Gothic"/>
              </a:rPr>
              <a:t>Background &amp;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977639"/>
            <a:ext cx="2103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0" i="0">
                <a:solidFill>
                  <a:srgbClr val="667184"/>
                </a:solidFill>
                <a:latin typeface="Calibri"/>
              </a:rPr>
              <a:t>Who ITC is, and the operating reality it faces post–October 7th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2103120"/>
            <a:ext cx="2542032" cy="3657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2103120"/>
            <a:ext cx="2542032" cy="82296"/>
          </a:xfrm>
          <a:prstGeom prst="rect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423160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8B8FE8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08960"/>
            <a:ext cx="2103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101F33"/>
                </a:solidFill>
                <a:latin typeface="Century Gothic"/>
              </a:rPr>
              <a:t>The Assessment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977639"/>
            <a:ext cx="2103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0" i="0">
                <a:solidFill>
                  <a:srgbClr val="667184"/>
                </a:solidFill>
                <a:latin typeface="Calibri"/>
              </a:rPr>
              <a:t>Five evidence-grounded capabilities, current vs. target scoring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8" y="2103120"/>
            <a:ext cx="2542032" cy="3657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53328" y="2103120"/>
            <a:ext cx="2542032" cy="82296"/>
          </a:xfrm>
          <a:prstGeom prst="rect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2423160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0A53C"/>
                </a:solidFill>
                <a:latin typeface="Century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108960"/>
            <a:ext cx="2103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101F33"/>
                </a:solidFill>
                <a:latin typeface="Century Gothic"/>
              </a:rPr>
              <a:t>Simulated Findings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977639"/>
            <a:ext cx="2103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0" i="0">
                <a:solidFill>
                  <a:srgbClr val="667184"/>
                </a:solidFill>
                <a:latin typeface="Calibri"/>
              </a:rPr>
              <a:t>A rehearsal application of the model — hypotheses, not verified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59952" y="2103120"/>
            <a:ext cx="2542032" cy="3657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59952" y="2103120"/>
            <a:ext cx="2542032" cy="82296"/>
          </a:xfrm>
          <a:prstGeom prst="rect">
            <a:avLst/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79408" y="2423160"/>
            <a:ext cx="2103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EB87C"/>
                </a:solidFill>
                <a:latin typeface="Century Gothi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3108960"/>
            <a:ext cx="2103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101F33"/>
                </a:solidFill>
                <a:latin typeface="Century Gothic"/>
              </a:rPr>
              <a:t>One-Year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3977639"/>
            <a:ext cx="2103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0" i="0">
                <a:solidFill>
                  <a:srgbClr val="667184"/>
                </a:solidFill>
                <a:latin typeface="Calibri"/>
              </a:rPr>
              <a:t>Priority actions, a first-90-days MVC, and what still needs real 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02</a:t>
            </a:r>
          </a:p>
        </p:txBody>
      </p:sp>
      <p:sp>
        <p:nvSpPr>
          <p:cNvPr id="28" name="Oval 27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99855" y="-1463040"/>
            <a:ext cx="5029200" cy="5029200"/>
          </a:xfrm>
          <a:prstGeom prst="ellipse">
            <a:avLst/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62895" y="4206240"/>
            <a:ext cx="2377440" cy="2377440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777240" cy="73152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17C3A0"/>
                </a:solidFill>
                <a:latin typeface="Century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9326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Century Gothic"/>
              </a:rPr>
              <a:t>Background &amp;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ED9E6"/>
                </a:solidFill>
                <a:latin typeface="Calibri"/>
              </a:rPr>
              <a:t>Who Israel Trauma Coalition is, and the operating reality shaping this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ITC  ×  OERA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0E9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E9379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ITC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0E93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74519"/>
            <a:ext cx="2542032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075687"/>
            <a:ext cx="384048" cy="64008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40279"/>
            <a:ext cx="21396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01F33"/>
                </a:solidFill>
                <a:latin typeface="Century Gothic"/>
              </a:rPr>
              <a:t>2001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07791"/>
            <a:ext cx="213969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7184"/>
                </a:solidFill>
                <a:latin typeface="Calibri"/>
              </a:rPr>
              <a:t>Founded, initiated by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7184"/>
                </a:solidFill>
                <a:latin typeface="Calibri"/>
              </a:rPr>
              <a:t>UJA-Federation of New York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1874519"/>
            <a:ext cx="2542032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47872" y="2075687"/>
            <a:ext cx="384048" cy="64008"/>
          </a:xfrm>
          <a:prstGeom prst="rect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240279"/>
            <a:ext cx="21396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01F33"/>
                </a:solidFill>
                <a:latin typeface="Century Gothic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907791"/>
            <a:ext cx="213969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7184"/>
                </a:solidFill>
                <a:latin typeface="Calibri"/>
              </a:rPr>
              <a:t>Member organizations,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7184"/>
                </a:solidFill>
                <a:latin typeface="Calibri"/>
              </a:rPr>
              <a:t>associations &amp; ministries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874519"/>
            <a:ext cx="2542032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2075687"/>
            <a:ext cx="384048" cy="64008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2240279"/>
            <a:ext cx="21396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01F33"/>
                </a:solidFill>
                <a:latin typeface="Century Gothic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907791"/>
            <a:ext cx="213969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7184"/>
                </a:solidFill>
                <a:latin typeface="Calibri"/>
              </a:rPr>
              <a:t>Resilience Centers,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7184"/>
                </a:solidFill>
                <a:latin typeface="Calibri"/>
              </a:rPr>
              <a:t>operating since 2007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1874519"/>
            <a:ext cx="2542032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2075687"/>
            <a:ext cx="384048" cy="64008"/>
          </a:xfrm>
          <a:prstGeom prst="rect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2240279"/>
            <a:ext cx="21396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01F33"/>
                </a:solidFill>
                <a:latin typeface="Century Gothic"/>
              </a:rPr>
              <a:t>15,000+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907791"/>
            <a:ext cx="213969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7184"/>
                </a:solidFill>
                <a:latin typeface="Calibri"/>
              </a:rPr>
              <a:t>People treated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7184"/>
                </a:solidFill>
                <a:latin typeface="Calibri"/>
              </a:rPr>
              <a:t>since Oct 7th, 2023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10881360" cy="196596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23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9379"/>
                </a:solidFill>
                <a:latin typeface="Calibri"/>
              </a:rPr>
              <a:t>CORE 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434840"/>
            <a:ext cx="9966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101F33"/>
                </a:solidFill>
                <a:latin typeface="Century Gothic"/>
              </a:rPr>
              <a:t>“Equips individuals, communities, and professionals with the tools and knowledge</a:t>
            </a:r>
          </a:p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101F33"/>
                </a:solidFill>
                <a:latin typeface="Century Gothic"/>
              </a:rPr>
              <a:t>needed to cope before, during, and after emergencies.”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03</a:t>
            </a:r>
          </a:p>
        </p:txBody>
      </p:sp>
      <p:sp>
        <p:nvSpPr>
          <p:cNvPr id="27" name="Oval 26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0E9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E9379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The operating challenge, right now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0E93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74519"/>
            <a:ext cx="3502152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82296" cy="2331720"/>
          </a:xfrm>
          <a:prstGeom prst="rect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2112263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12263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15767"/>
            <a:ext cx="29900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01F33"/>
                </a:solidFill>
                <a:latin typeface="Century Gothic"/>
              </a:rPr>
              <a:t>Funding &amp; talent competition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72967"/>
            <a:ext cx="299008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7184"/>
                </a:solidFill>
                <a:latin typeface="Calibri"/>
              </a:rPr>
              <a:t>~5,000 more therapists needed in affected areas — acute competition among member NGOs for donor funding and talent.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874519"/>
            <a:ext cx="3502152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874519"/>
            <a:ext cx="82296" cy="2331720"/>
          </a:xfrm>
          <a:prstGeom prst="rect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81144" y="2112263"/>
            <a:ext cx="457200" cy="457200"/>
          </a:xfrm>
          <a:prstGeom prst="ellipse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112263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2715767"/>
            <a:ext cx="29900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01F33"/>
                </a:solidFill>
                <a:latin typeface="Century Gothic"/>
              </a:rPr>
              <a:t>The “Accordion” reality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172967"/>
            <a:ext cx="299008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7184"/>
                </a:solidFill>
                <a:latin typeface="Calibri"/>
              </a:rPr>
              <a:t>Capacity must expand and contract rapidly with each crisis wave, without procedures built for that rhythm.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874519"/>
            <a:ext cx="3502152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1874519"/>
            <a:ext cx="82296" cy="2331720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66176" y="2112263"/>
            <a:ext cx="457200" cy="457200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6" y="2112263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715767"/>
            <a:ext cx="299008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01F33"/>
                </a:solidFill>
                <a:latin typeface="Century Gothic"/>
              </a:rPr>
              <a:t>A coming demand spike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3172967"/>
            <a:ext cx="299008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7184"/>
                </a:solidFill>
                <a:latin typeface="Calibri"/>
              </a:rPr>
              <a:t>A hypothesized post-ceasefire surge in therapy needs, arriving alongside donor fatigue and process delays.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80560"/>
            <a:ext cx="10881360" cy="1280160"/>
          </a:xfrm>
          <a:prstGeom prst="roundRect">
            <a:avLst>
              <a:gd name="adj" fmla="val 10000"/>
            </a:avLst>
          </a:prstGeom>
          <a:solidFill>
            <a:srgbClr val="1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1772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7C3A0"/>
                </a:solidFill>
                <a:latin typeface="Calibri"/>
              </a:rPr>
              <a:t>THE CORE TENSION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377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An organization built for sustained crisis response is now also being asked to build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proactive, scalable, institutional innovation capacity — at the same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04</a:t>
            </a:r>
          </a:p>
        </p:txBody>
      </p:sp>
      <p:sp>
        <p:nvSpPr>
          <p:cNvPr id="29" name="Oval 28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48495" y="4114800"/>
            <a:ext cx="4023360" cy="4023360"/>
          </a:xfrm>
          <a:prstGeom prst="ellipse">
            <a:avLst/>
          </a:prstGeom>
          <a:solidFill>
            <a:srgbClr val="1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C3A0"/>
                </a:solidFill>
                <a:latin typeface="Calibri"/>
              </a:rPr>
              <a:t>WHY THIS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9875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FFFFFF"/>
                </a:solidFill>
                <a:latin typeface="Century Gothic"/>
              </a:rPr>
              <a:t>ITC's value is coordination and</a:t>
            </a:r>
          </a:p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FFFFFF"/>
                </a:solidFill>
                <a:latin typeface="Century Gothic"/>
              </a:rPr>
              <a:t>knowledge-sharing — not one product.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2971800"/>
            <a:ext cx="1280160" cy="0"/>
          </a:xfrm>
          <a:prstGeom prst="line">
            <a:avLst/>
          </a:prstGeom>
          <a:ln w="31750">
            <a:solidFill>
              <a:srgbClr val="17C3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320040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CED9E6"/>
                </a:solidFill>
                <a:latin typeface="Calibri"/>
              </a:rPr>
              <a:t>That makes organizational capability — not new-program design — the real lever for improvement across a 58-organization ecosystem.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63440"/>
            <a:ext cx="8778240" cy="1371600"/>
          </a:xfrm>
          <a:prstGeom prst="roundRect">
            <a:avLst>
              <a:gd name="adj" fmla="val 10000"/>
            </a:avLst>
          </a:prstGeom>
          <a:solidFill>
            <a:srgbClr val="1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7C3A0"/>
                </a:solidFill>
                <a:latin typeface="Calibri"/>
              </a:rPr>
              <a:t>ASSIGNMENT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66360"/>
            <a:ext cx="8229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Focused on organizational innovation and strategic change management — explicitly not on designing new ITC programs or services.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ITC  ×  OERA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05</a:t>
            </a:r>
          </a:p>
        </p:txBody>
      </p:sp>
      <p:sp>
        <p:nvSpPr>
          <p:cNvPr id="12" name="Oval 11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99855" y="-1463040"/>
            <a:ext cx="5029200" cy="5029200"/>
          </a:xfrm>
          <a:prstGeom prst="ellipse">
            <a:avLst/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62895" y="4206240"/>
            <a:ext cx="2377440" cy="2377440"/>
          </a:xfrm>
          <a:prstGeom prst="ellipse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777240" cy="73152"/>
          </a:xfrm>
          <a:prstGeom prst="rect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8B8FE8"/>
                </a:solidFill>
                <a:latin typeface="Century 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9326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Century Gothic"/>
              </a:rPr>
              <a:t>The Assessment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ED9E6"/>
                </a:solidFill>
                <a:latin typeface="Calibri"/>
              </a:rPr>
              <a:t>Five evidence-grounded capabilities, adapted from course frameworks and built for ITC's reality.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ITC  ×  OERA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02</a:t>
            </a:r>
          </a:p>
        </p:txBody>
      </p:sp>
      <p:sp>
        <p:nvSpPr>
          <p:cNvPr id="10" name="Oval 9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8B8FE8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Purpose, approach &amp; respondents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8B8F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74519"/>
            <a:ext cx="350215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02152" cy="82296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3044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1F33"/>
                </a:solidFill>
                <a:latin typeface="Century Gothic"/>
              </a:rPr>
              <a:t>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06040"/>
            <a:ext cx="30449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30" b="0" i="0">
                <a:solidFill>
                  <a:srgbClr val="667184"/>
                </a:solidFill>
                <a:latin typeface="Calibri"/>
              </a:rPr>
              <a:t>Evaluate ITC's capacity to sense opportunity, safely experiment, and institutionalize learning under sustained crisis conditions.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874519"/>
            <a:ext cx="350215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874519"/>
            <a:ext cx="3502152" cy="82296"/>
          </a:xfrm>
          <a:prstGeom prst="rect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2121408"/>
            <a:ext cx="3044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1F33"/>
                </a:solidFill>
                <a:latin typeface="Century Gothic"/>
              </a:rPr>
              <a:t>Approach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606040"/>
            <a:ext cx="30449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30" b="0" i="0">
                <a:solidFill>
                  <a:srgbClr val="667184"/>
                </a:solidFill>
                <a:latin typeface="Calibri"/>
              </a:rPr>
              <a:t>An AI-assisted, custom model — drawing on the course's INSA framework and Innovation Map, adapted and justified specifically for ITC.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874519"/>
            <a:ext cx="350215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874519"/>
            <a:ext cx="3502152" cy="82296"/>
          </a:xfrm>
          <a:prstGeom prst="rect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21408"/>
            <a:ext cx="30449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1F33"/>
                </a:solidFill>
                <a:latin typeface="Century Gothic"/>
              </a:rPr>
              <a:t>Respondents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606040"/>
            <a:ext cx="30449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30" b="0" i="0">
                <a:solidFill>
                  <a:srgbClr val="667184"/>
                </a:solidFill>
                <a:latin typeface="Calibri"/>
              </a:rPr>
              <a:t>HQ Leadership, Regional Field Coordinators, and Member NGO Leaders — capturing both strategic intent and lived reality.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9379"/>
                </a:solidFill>
                <a:latin typeface="Calibri"/>
              </a:rPr>
              <a:t>MODEL LOGIC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846320"/>
            <a:ext cx="1971446" cy="566928"/>
          </a:xfrm>
          <a:prstGeom prst="roundRect">
            <a:avLst>
              <a:gd name="adj" fmla="val 50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197144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Direction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7611" y="4846320"/>
            <a:ext cx="2560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7C3A0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67558" y="4846320"/>
            <a:ext cx="1971446" cy="566928"/>
          </a:xfrm>
          <a:prstGeom prst="roundRect">
            <a:avLst>
              <a:gd name="adj" fmla="val 50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67558" y="4846320"/>
            <a:ext cx="197144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Enable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85089" y="4846320"/>
            <a:ext cx="2560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7C3A0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95036" y="4846320"/>
            <a:ext cx="1971446" cy="566928"/>
          </a:xfrm>
          <a:prstGeom prst="roundRect">
            <a:avLst>
              <a:gd name="adj" fmla="val 50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95036" y="4846320"/>
            <a:ext cx="197144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Discover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567" y="4846320"/>
            <a:ext cx="2560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7C3A0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2514" y="4846320"/>
            <a:ext cx="1971446" cy="566928"/>
          </a:xfrm>
          <a:prstGeom prst="roundRect">
            <a:avLst>
              <a:gd name="adj" fmla="val 50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22514" y="4846320"/>
            <a:ext cx="197144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0045" y="4846320"/>
            <a:ext cx="25603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7C3A0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49992" y="4846320"/>
            <a:ext cx="1971446" cy="566928"/>
          </a:xfrm>
          <a:prstGeom prst="roundRect">
            <a:avLst>
              <a:gd name="adj" fmla="val 50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9992" y="4846320"/>
            <a:ext cx="1971446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Learn &amp; Scale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06</a:t>
            </a:r>
          </a:p>
        </p:txBody>
      </p:sp>
      <p:sp>
        <p:nvSpPr>
          <p:cNvPr id="35" name="Oval 34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8B8FE8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Five applied capabilities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8B8F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874519"/>
            <a:ext cx="212140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121408" cy="82296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4088" y="2112263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112263"/>
            <a:ext cx="11887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7C3A0"/>
                </a:solidFill>
                <a:latin typeface="Calibri"/>
              </a:rPr>
              <a:t>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32887"/>
            <a:ext cx="17190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Anticipatory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Innovation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355847"/>
            <a:ext cx="1719072" cy="2331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30" b="0" i="0">
                <a:solidFill>
                  <a:srgbClr val="667184"/>
                </a:solidFill>
                <a:latin typeface="Calibri"/>
              </a:rPr>
              <a:t>Proactive planning vs. purely reactive crisis response.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52344" y="1874519"/>
            <a:ext cx="212140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52344" y="1874519"/>
            <a:ext cx="2121408" cy="82296"/>
          </a:xfrm>
          <a:prstGeom prst="rect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53512" y="2112263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3512" y="2112263"/>
            <a:ext cx="11887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8B8FE8"/>
                </a:solidFill>
                <a:latin typeface="Calibri"/>
              </a:rPr>
              <a:t>ENABLE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3512" y="2532887"/>
            <a:ext cx="17190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Risk Tolerance &amp;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Psych. 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3355847"/>
            <a:ext cx="1719072" cy="2331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30" b="0" i="0">
                <a:solidFill>
                  <a:srgbClr val="667184"/>
                </a:solidFill>
                <a:latin typeface="Calibri"/>
              </a:rPr>
              <a:t>Can ITC safely pilot and fail small?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1874519"/>
            <a:ext cx="212140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01768" y="1874519"/>
            <a:ext cx="2121408" cy="82296"/>
          </a:xfrm>
          <a:prstGeom prst="rect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02936" y="2112263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02936" y="2112263"/>
            <a:ext cx="11887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25C54"/>
                </a:solidFill>
                <a:latin typeface="Calibri"/>
              </a:rPr>
              <a:t>DISCOVER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2936" y="2532887"/>
            <a:ext cx="17190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Ecosystem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Stability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2936" y="3355847"/>
            <a:ext cx="1719072" cy="2331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30" b="0" i="0">
                <a:solidFill>
                  <a:srgbClr val="667184"/>
                </a:solidFill>
                <a:latin typeface="Calibri"/>
              </a:rPr>
              <a:t>Do partnerships hold under funding/talent competition?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51192" y="1874519"/>
            <a:ext cx="212140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51192" y="1874519"/>
            <a:ext cx="2121408" cy="82296"/>
          </a:xfrm>
          <a:prstGeom prst="rect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52360" y="2112263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2112263"/>
            <a:ext cx="11887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0A53C"/>
                </a:solidFill>
                <a:latin typeface="Calibri"/>
              </a:rPr>
              <a:t>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532887"/>
            <a:ext cx="17190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Scalability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(“Accordion”)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3355847"/>
            <a:ext cx="1719072" cy="2331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30" b="0" i="0">
                <a:solidFill>
                  <a:srgbClr val="667184"/>
                </a:solidFill>
                <a:latin typeface="Calibri"/>
              </a:rPr>
              <a:t>Can procedures expand &amp; contract under crisis load?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0616" y="1874519"/>
            <a:ext cx="212140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0616" y="1874519"/>
            <a:ext cx="2121408" cy="82296"/>
          </a:xfrm>
          <a:prstGeom prst="rect">
            <a:avLst/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01784" y="2112263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01784" y="2112263"/>
            <a:ext cx="11887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EB87C"/>
                </a:solidFill>
                <a:latin typeface="Calibri"/>
              </a:rPr>
              <a:t>LEARN &amp; SCALE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01784" y="2532887"/>
            <a:ext cx="17190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Knowledge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01F33"/>
                </a:solidFill>
                <a:latin typeface="Century Gothic"/>
              </a:rPr>
              <a:t>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01784" y="3355847"/>
            <a:ext cx="1719072" cy="2331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30" b="0" i="0">
                <a:solidFill>
                  <a:srgbClr val="667184"/>
                </a:solidFill>
                <a:latin typeface="Calibri"/>
              </a:rPr>
              <a:t>Is specialized trauma expertise captured, not lost?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07</a:t>
            </a:r>
          </a:p>
        </p:txBody>
      </p:sp>
      <p:sp>
        <p:nvSpPr>
          <p:cNvPr id="38" name="Oval 37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8B8FE8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Scoring &amp; analysis method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8B8F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28800"/>
            <a:ext cx="5120640" cy="1737360"/>
          </a:xfrm>
          <a:prstGeom prst="roundRect">
            <a:avLst>
              <a:gd name="adj" fmla="val 9000"/>
            </a:avLst>
          </a:prstGeom>
          <a:solidFill>
            <a:srgbClr val="1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7C3A0"/>
                </a:solidFill>
                <a:latin typeface="Calibri"/>
              </a:rPr>
              <a:t>PRIORITY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59152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Century Gothic"/>
              </a:rPr>
              <a:t>Target × (5 − Current)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923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ED9E6"/>
                </a:solidFill>
                <a:latin typeface="Calibri"/>
              </a:rPr>
              <a:t>High-target, low-current capabilities rise to the 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5577840" cy="1737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828800"/>
            <a:ext cx="5577840" cy="82296"/>
          </a:xfrm>
          <a:prstGeom prst="rect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048256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25C54"/>
                </a:solidFill>
                <a:latin typeface="Calibri"/>
              </a:rPr>
              <a:t>INNOVATION-BARRIER FLAG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95728"/>
            <a:ext cx="50292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 i="0">
                <a:solidFill>
                  <a:srgbClr val="101F33"/>
                </a:solidFill>
                <a:latin typeface="Calibri"/>
              </a:rPr>
              <a:t>Current average &lt; 3.0,  or  Current→Target gap ≥ 1.5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120640" cy="1737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5120640" cy="82296"/>
          </a:xfrm>
          <a:prstGeom prst="rect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68496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53C"/>
                </a:solidFill>
                <a:latin typeface="Calibri"/>
              </a:rPr>
              <a:t>STAKEHOLDER-DIVERGENCE FLAG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15968"/>
            <a:ext cx="46634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01F33"/>
                </a:solidFill>
                <a:latin typeface="Calibri"/>
              </a:rPr>
              <a:t>≥ 1.5-point spread between HQ, Field, and Member-NGO ratings on the same capability.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749039"/>
            <a:ext cx="5577840" cy="1737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749039"/>
            <a:ext cx="5577840" cy="82296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968496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E9379"/>
                </a:solidFill>
                <a:latin typeface="Calibri"/>
              </a:rPr>
              <a:t>EVIDENCE DISCIPLINE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315968"/>
            <a:ext cx="50292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01F33"/>
                </a:solidFill>
                <a:latin typeface="Calibri"/>
              </a:rPr>
              <a:t>Every input tagged FACT / PERCEPTION / INTERPRETATION / UNKNOWN before it becomes a finding.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08</a:t>
            </a:r>
          </a:p>
        </p:txBody>
      </p:sp>
      <p:sp>
        <p:nvSpPr>
          <p:cNvPr id="24" name="Oval 23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2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99855" y="-1463040"/>
            <a:ext cx="5029200" cy="5029200"/>
          </a:xfrm>
          <a:prstGeom prst="ellipse">
            <a:avLst/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62895" y="4206240"/>
            <a:ext cx="2377440" cy="2377440"/>
          </a:xfrm>
          <a:prstGeom prst="ellipse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777240" cy="73152"/>
          </a:xfrm>
          <a:prstGeom prst="rect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F0A53C"/>
                </a:solidFill>
                <a:latin typeface="Century Gothi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9326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Century Gothic"/>
              </a:rPr>
              <a:t>Simulated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ED9E6"/>
                </a:solidFill>
                <a:latin typeface="Calibri"/>
              </a:rPr>
              <a:t>A rehearsal application of the model — 12 invented personas, used to sharpen what we test, not to claim findings.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ITC  ×  OERA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03</a:t>
            </a:r>
          </a:p>
        </p:txBody>
      </p:sp>
      <p:sp>
        <p:nvSpPr>
          <p:cNvPr id="10" name="Oval 9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0A53C"/>
                </a:solidFill>
                <a:latin typeface="Calibri"/>
              </a:rPr>
              <a:t>SIMULATED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Scorecard — current vs. target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F0A5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534095" y="502920"/>
            <a:ext cx="3017520" cy="347472"/>
          </a:xfrm>
          <a:prstGeom prst="roundRect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SIMULATED — NOT REAL DATA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828800"/>
          <a:ext cx="74066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21040" y="1828800"/>
            <a:ext cx="320040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2057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53C"/>
                </a:solidFill>
                <a:latin typeface="Calibri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468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150" b="1">
                <a:solidFill>
                  <a:srgbClr val="F0A53C"/>
                </a:solidFill>
                <a:latin typeface="Calibri"/>
              </a:rPr>
              <a:t>—  </a:t>
            </a:r>
            <a:r>
              <a:rPr sz="1150" b="1">
                <a:solidFill>
                  <a:srgbClr val="101F33"/>
                </a:solidFill>
                <a:latin typeface="Calibri"/>
              </a:rPr>
              <a:t>3.88 / 5  </a:t>
            </a:r>
            <a:r>
              <a:rPr sz="1150">
                <a:solidFill>
                  <a:srgbClr val="1B2433"/>
                </a:solidFill>
                <a:latin typeface="Calibri"/>
              </a:rPr>
              <a:t>overall current state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150" b="1">
                <a:solidFill>
                  <a:srgbClr val="F0A53C"/>
                </a:solidFill>
                <a:latin typeface="Calibri"/>
              </a:rPr>
              <a:t>—  </a:t>
            </a:r>
            <a:r>
              <a:rPr sz="1150" b="1">
                <a:solidFill>
                  <a:srgbClr val="101F33"/>
                </a:solidFill>
                <a:latin typeface="Calibri"/>
              </a:rPr>
              <a:t>Strongest:  </a:t>
            </a:r>
            <a:r>
              <a:rPr sz="1150">
                <a:solidFill>
                  <a:srgbClr val="1B2433"/>
                </a:solidFill>
                <a:latin typeface="Calibri"/>
              </a:rPr>
              <a:t>Ecosystem Stability (4.60)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150" b="1">
                <a:solidFill>
                  <a:srgbClr val="F0A53C"/>
                </a:solidFill>
                <a:latin typeface="Calibri"/>
              </a:rPr>
              <a:t>—  </a:t>
            </a:r>
            <a:r>
              <a:rPr sz="1150" b="1">
                <a:solidFill>
                  <a:srgbClr val="101F33"/>
                </a:solidFill>
                <a:latin typeface="Calibri"/>
              </a:rPr>
              <a:t>Weakest &amp; highest priority:  </a:t>
            </a:r>
            <a:r>
              <a:rPr sz="1150">
                <a:solidFill>
                  <a:srgbClr val="1B2433"/>
                </a:solidFill>
                <a:latin typeface="Calibri"/>
              </a:rPr>
              <a:t>Scalability (3.04, gap 1.89)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150" b="1">
                <a:solidFill>
                  <a:srgbClr val="F0A53C"/>
                </a:solidFill>
                <a:latin typeface="Calibri"/>
              </a:rPr>
              <a:t>—  </a:t>
            </a:r>
            <a:r>
              <a:rPr sz="1150">
                <a:solidFill>
                  <a:srgbClr val="1B2433"/>
                </a:solidFill>
                <a:latin typeface="Calibri"/>
              </a:rPr>
              <a:t>Based on 12 simulated personas — a rehearsal, not real ITC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09</a:t>
            </a:r>
          </a:p>
        </p:txBody>
      </p:sp>
      <p:sp>
        <p:nvSpPr>
          <p:cNvPr id="13" name="Oval 12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0A53C"/>
                </a:solidFill>
                <a:latin typeface="Calibri"/>
              </a:rPr>
              <a:t>SIMULATED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What's working, what's at risk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F0A5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0143439" y="502920"/>
            <a:ext cx="1408176" cy="347472"/>
          </a:xfrm>
          <a:prstGeom prst="roundRect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SIMULATED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25780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5257800" cy="82296"/>
          </a:xfrm>
          <a:prstGeom prst="rect">
            <a:avLst/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103120"/>
            <a:ext cx="420624" cy="420624"/>
          </a:xfrm>
          <a:prstGeom prst="ellipse">
            <a:avLst/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0312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4251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1F33"/>
                </a:solidFill>
                <a:latin typeface="Century Gothic"/>
              </a:rPr>
              <a:t>The good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4709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250" b="1">
                <a:solidFill>
                  <a:srgbClr val="2EB87C"/>
                </a:solidFill>
                <a:latin typeface="Calibri"/>
              </a:rPr>
              <a:t>—  </a:t>
            </a:r>
            <a:r>
              <a:rPr sz="1250" b="1">
                <a:solidFill>
                  <a:srgbClr val="101F33"/>
                </a:solidFill>
                <a:latin typeface="Calibri"/>
              </a:rPr>
              <a:t>Ecosystem Stability  </a:t>
            </a:r>
            <a:r>
              <a:rPr sz="1250">
                <a:solidFill>
                  <a:srgbClr val="1B2433"/>
                </a:solidFill>
                <a:latin typeface="Calibri"/>
              </a:rPr>
              <a:t>is the strongest capability, and closest to its own target — the smallest current→target gap of all 5.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250" b="1">
                <a:solidFill>
                  <a:srgbClr val="2EB87C"/>
                </a:solidFill>
                <a:latin typeface="Calibri"/>
              </a:rPr>
              <a:t>—  </a:t>
            </a:r>
            <a:r>
              <a:rPr sz="1250" b="1">
                <a:solidFill>
                  <a:srgbClr val="101F33"/>
                </a:solidFill>
                <a:latin typeface="Calibri"/>
              </a:rPr>
              <a:t>Backed by real evidence:  </a:t>
            </a:r>
            <a:r>
              <a:rPr sz="1250">
                <a:solidFill>
                  <a:srgbClr val="1B2433"/>
                </a:solidFill>
                <a:latin typeface="Calibri"/>
              </a:rPr>
              <a:t>ITC coordinates 58 member organizations under a formal government partnership since 2005.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250" b="1">
                <a:solidFill>
                  <a:srgbClr val="2EB87C"/>
                </a:solidFill>
                <a:latin typeface="Calibri"/>
              </a:rPr>
              <a:t>—  </a:t>
            </a:r>
            <a:r>
              <a:rPr sz="1250" b="1">
                <a:solidFill>
                  <a:srgbClr val="101F33"/>
                </a:solidFill>
                <a:latin typeface="Calibri"/>
              </a:rPr>
              <a:t>Knowledge intent exists:  </a:t>
            </a:r>
            <a:r>
              <a:rPr sz="1250">
                <a:solidFill>
                  <a:srgbClr val="1B2433"/>
                </a:solidFill>
                <a:latin typeface="Calibri"/>
              </a:rPr>
              <a:t>second-highest current score (3.96) — the organization already recognizes the need to capture trauma expertise.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828800"/>
            <a:ext cx="544068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828800"/>
            <a:ext cx="5440680" cy="82296"/>
          </a:xfrm>
          <a:prstGeom prst="rect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36792" y="2103120"/>
            <a:ext cx="420624" cy="420624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103120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121408"/>
            <a:ext cx="4434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1F33"/>
                </a:solidFill>
                <a:latin typeface="Century Gothic"/>
              </a:rPr>
              <a:t>The bad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43200"/>
            <a:ext cx="4892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250" b="1">
                <a:solidFill>
                  <a:srgbClr val="F25C54"/>
                </a:solidFill>
                <a:latin typeface="Calibri"/>
              </a:rPr>
              <a:t>—  </a:t>
            </a:r>
            <a:r>
              <a:rPr sz="1250" b="1">
                <a:solidFill>
                  <a:srgbClr val="101F33"/>
                </a:solidFill>
                <a:latin typeface="Calibri"/>
              </a:rPr>
              <a:t>Scalability is the #1 priority gap:  </a:t>
            </a:r>
            <a:r>
              <a:rPr sz="1250">
                <a:solidFill>
                  <a:srgbClr val="1B2433"/>
                </a:solidFill>
                <a:latin typeface="Calibri"/>
              </a:rPr>
              <a:t>lowest current score (3.04) and the widest gap to target (1.89 pts) in the whole model.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250" b="1">
                <a:solidFill>
                  <a:srgbClr val="F25C54"/>
                </a:solidFill>
                <a:latin typeface="Calibri"/>
              </a:rPr>
              <a:t>—  </a:t>
            </a:r>
            <a:r>
              <a:rPr sz="1250" b="1">
                <a:solidFill>
                  <a:srgbClr val="101F33"/>
                </a:solidFill>
                <a:latin typeface="Calibri"/>
              </a:rPr>
              <a:t>Reads as improvisation, not procedure:  </a:t>
            </a:r>
            <a:r>
              <a:rPr sz="1250">
                <a:solidFill>
                  <a:srgbClr val="1B2433"/>
                </a:solidFill>
                <a:latin typeface="Calibri"/>
              </a:rPr>
              <a:t>a real risk when institutional memory walks out the door.</a:t>
            </a:r>
          </a:p>
          <a:p>
            <a:pPr>
              <a:lnSpc>
                <a:spcPct val="122000"/>
              </a:lnSpc>
              <a:spcAft>
                <a:spcPts val="1400"/>
              </a:spcAft>
            </a:pPr>
            <a:r>
              <a:rPr sz="1250" b="1">
                <a:solidFill>
                  <a:srgbClr val="F25C54"/>
                </a:solidFill>
                <a:latin typeface="Calibri"/>
              </a:rPr>
              <a:t>—  </a:t>
            </a:r>
            <a:r>
              <a:rPr sz="1250" b="1">
                <a:solidFill>
                  <a:srgbClr val="101F33"/>
                </a:solidFill>
                <a:latin typeface="Calibri"/>
              </a:rPr>
              <a:t>A hypothesized HQ–field disconnect:  </a:t>
            </a:r>
            <a:r>
              <a:rPr sz="1250">
                <a:solidFill>
                  <a:srgbClr val="1B2433"/>
                </a:solidFill>
                <a:latin typeface="Calibri"/>
              </a:rPr>
              <a:t>simulated Executives rate Risk Tolerance &amp; Scalability higher than the field — unconfirmed, and exactly what to test Wednesday.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10</a:t>
            </a:r>
          </a:p>
        </p:txBody>
      </p:sp>
      <p:sp>
        <p:nvSpPr>
          <p:cNvPr id="21" name="Oval 20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99855" y="-1463040"/>
            <a:ext cx="5029200" cy="5029200"/>
          </a:xfrm>
          <a:prstGeom prst="ellipse">
            <a:avLst/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62895" y="4206240"/>
            <a:ext cx="2377440" cy="2377440"/>
          </a:xfrm>
          <a:prstGeom prst="ellipse">
            <a:avLst/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777240" cy="73152"/>
          </a:xfrm>
          <a:prstGeom prst="rect">
            <a:avLst/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2EB87C"/>
                </a:solidFill>
                <a:latin typeface="Century Gothi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9326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Century Gothic"/>
              </a:rPr>
              <a:t>One-Year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ED9E6"/>
                </a:solidFill>
                <a:latin typeface="Calibri"/>
              </a:rPr>
              <a:t>Three priority action areas, a first-90-days test, and what still needs to become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ITC  ×  OERA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04</a:t>
            </a:r>
          </a:p>
        </p:txBody>
      </p:sp>
      <p:sp>
        <p:nvSpPr>
          <p:cNvPr id="10" name="Oval 9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EB87C"/>
                </a:solidFill>
                <a:latin typeface="Calibri"/>
              </a:rPr>
              <a:t>ONE-YEAR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Three priority action areas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2EB8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88720" y="2788920"/>
            <a:ext cx="9784080" cy="0"/>
          </a:xfrm>
          <a:prstGeom prst="line">
            <a:avLst/>
          </a:prstGeom>
          <a:ln w="25400">
            <a:solidFill>
              <a:srgbClr val="E3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2189988" y="2587752"/>
            <a:ext cx="402336" cy="40233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988" y="2587752"/>
            <a:ext cx="40233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3502152" cy="2834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3502152" cy="73152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401568"/>
            <a:ext cx="3063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101F33"/>
                </a:solidFill>
                <a:latin typeface="Century Gothic"/>
              </a:rPr>
              <a:t>Document the surge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4114800"/>
            <a:ext cx="3063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67184"/>
                </a:solidFill>
                <a:latin typeface="Calibri"/>
              </a:rPr>
              <a:t>Turn tribal-knowledge onboarding/IT procedures into a written, rehearsed protocol, piloted in one region.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" y="55778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577840"/>
            <a:ext cx="1828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7C3A0"/>
                </a:solidFill>
                <a:latin typeface="Calibri"/>
              </a:rPr>
              <a:t>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94360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7184"/>
                </a:solidFill>
                <a:latin typeface="Calibri"/>
              </a:rPr>
              <a:t>Operations lead · 90-day MVC</a:t>
            </a:r>
          </a:p>
        </p:txBody>
      </p:sp>
      <p:sp>
        <p:nvSpPr>
          <p:cNvPr id="16" name="Oval 15"/>
          <p:cNvSpPr/>
          <p:nvPr/>
        </p:nvSpPr>
        <p:spPr>
          <a:xfrm>
            <a:off x="5875020" y="2587752"/>
            <a:ext cx="402336" cy="402336"/>
          </a:xfrm>
          <a:prstGeom prst="ellipse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75020" y="2587752"/>
            <a:ext cx="40233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3200400"/>
            <a:ext cx="3502152" cy="2834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5112" y="3200400"/>
            <a:ext cx="3502152" cy="73152"/>
          </a:xfrm>
          <a:prstGeom prst="rect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401568"/>
            <a:ext cx="3063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101F33"/>
                </a:solidFill>
                <a:latin typeface="Century Gothic"/>
              </a:rPr>
              <a:t>Protect planning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114800"/>
            <a:ext cx="3063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67184"/>
                </a:solidFill>
                <a:latin typeface="Calibri"/>
              </a:rPr>
              <a:t>A standing, protected working session for post-ceasefire and future-demand scenarios.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44568" y="55778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5577840"/>
            <a:ext cx="1828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8B8FE8"/>
                </a:solidFill>
                <a:latin typeface="Calibri"/>
              </a:rPr>
              <a:t>Anticipatory Innovation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594360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7184"/>
                </a:solidFill>
                <a:latin typeface="Calibri"/>
              </a:rPr>
              <a:t>Leadership · Quarterly</a:t>
            </a:r>
          </a:p>
        </p:txBody>
      </p:sp>
      <p:sp>
        <p:nvSpPr>
          <p:cNvPr id="25" name="Oval 24"/>
          <p:cNvSpPr/>
          <p:nvPr/>
        </p:nvSpPr>
        <p:spPr>
          <a:xfrm>
            <a:off x="9560052" y="2587752"/>
            <a:ext cx="402336" cy="402336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0052" y="2587752"/>
            <a:ext cx="40233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3200400"/>
            <a:ext cx="3502152" cy="2834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10144" y="3200400"/>
            <a:ext cx="3502152" cy="73152"/>
          </a:xfrm>
          <a:prstGeom prst="rect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401568"/>
            <a:ext cx="3063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101F33"/>
                </a:solidFill>
                <a:latin typeface="Century Gothic"/>
              </a:rPr>
              <a:t>Validate, then close the HQ–field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114800"/>
            <a:ext cx="3063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67184"/>
                </a:solidFill>
                <a:latin typeface="Calibri"/>
              </a:rPr>
              <a:t>Confirm the divergence via real interviews; if real, open a direct two-way channel between HQ and field directors.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55778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5577840"/>
            <a:ext cx="1828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5C54"/>
                </a:solidFill>
                <a:latin typeface="Calibri"/>
              </a:rPr>
              <a:t>Risk Tolerance / Ecosystem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94360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7184"/>
                </a:solidFill>
                <a:latin typeface="Calibri"/>
              </a:rPr>
              <a:t>All layers · First 90 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11</a:t>
            </a:r>
          </a:p>
        </p:txBody>
      </p:sp>
      <p:sp>
        <p:nvSpPr>
          <p:cNvPr id="36" name="Oval 35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1371600"/>
            <a:ext cx="4114800" cy="4114800"/>
          </a:xfrm>
          <a:prstGeom prst="ellipse">
            <a:avLst/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C3A0"/>
                </a:solidFill>
                <a:latin typeface="Calibri"/>
              </a:rPr>
              <a:t>FIRST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C3A0"/>
                </a:solidFill>
                <a:latin typeface="Calibri"/>
              </a:rPr>
              <a:t>Minimum Viable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875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FFFFF"/>
                </a:solidFill>
                <a:latin typeface="Century Gothic"/>
              </a:rPr>
              <a:t>Pilot a single documented onboarding/surge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FFFFF"/>
                </a:solidFill>
                <a:latin typeface="Century Gothic"/>
              </a:rPr>
              <a:t>checklist in one Resilience Center.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91840"/>
            <a:ext cx="2578608" cy="2468880"/>
          </a:xfrm>
          <a:prstGeom prst="roundRect">
            <a:avLst>
              <a:gd name="adj" fmla="val 9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91840"/>
            <a:ext cx="2578608" cy="73152"/>
          </a:xfrm>
          <a:prstGeom prst="rect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520440"/>
            <a:ext cx="21762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7C3A0"/>
                </a:solidFill>
                <a:latin typeface="Century Gothic"/>
              </a:rPr>
              <a:t>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931920"/>
            <a:ext cx="217627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ED9E6"/>
                </a:solidFill>
                <a:latin typeface="Calibri"/>
              </a:rPr>
              <a:t>One region, one crisis-response function — narrow and reversible.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47872" y="3291840"/>
            <a:ext cx="2578608" cy="2468880"/>
          </a:xfrm>
          <a:prstGeom prst="roundRect">
            <a:avLst>
              <a:gd name="adj" fmla="val 9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47872" y="3291840"/>
            <a:ext cx="2578608" cy="73152"/>
          </a:xfrm>
          <a:prstGeom prst="rect">
            <a:avLst/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3520440"/>
            <a:ext cx="21762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8B8FE8"/>
                </a:solidFill>
                <a:latin typeface="Century Gothic"/>
              </a:rPr>
              <a:t>Success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931920"/>
            <a:ext cx="217627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ED9E6"/>
                </a:solidFill>
                <a:latin typeface="Calibri"/>
              </a:rPr>
              <a:t>New/reassigned staff can follow the checklist without relying on one person's memory.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3291840"/>
            <a:ext cx="2578608" cy="2468880"/>
          </a:xfrm>
          <a:prstGeom prst="roundRect">
            <a:avLst>
              <a:gd name="adj" fmla="val 9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4" y="3291840"/>
            <a:ext cx="2578608" cy="73152"/>
          </a:xfrm>
          <a:prstGeom prst="rect">
            <a:avLst/>
          </a:prstGeom>
          <a:solidFill>
            <a:srgbClr val="F0A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520440"/>
            <a:ext cx="21762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53C"/>
                </a:solidFill>
                <a:latin typeface="Century Gothic"/>
              </a:rPr>
              <a:t>Stop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931920"/>
            <a:ext cx="217627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ED9E6"/>
                </a:solidFill>
                <a:latin typeface="Calibri"/>
              </a:rPr>
              <a:t>If the checklist can't survive a real surge test, pivot back to the divergence-validation track.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3291840"/>
            <a:ext cx="2578608" cy="2468880"/>
          </a:xfrm>
          <a:prstGeom prst="roundRect">
            <a:avLst>
              <a:gd name="adj" fmla="val 9000"/>
            </a:avLst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97696" y="3291840"/>
            <a:ext cx="2578608" cy="73152"/>
          </a:xfrm>
          <a:prstGeom prst="rect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4" y="3520440"/>
            <a:ext cx="21762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25C54"/>
                </a:solidFill>
                <a:latin typeface="Century Gothic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4" y="3931920"/>
            <a:ext cx="217627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ED9E6"/>
                </a:solidFill>
                <a:latin typeface="Calibri"/>
              </a:rPr>
              <a:t>Must stay trauma-sensitive by design — never at the cost of client care during a live crisis.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ITC  ×  OERA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CED9E6"/>
                </a:solidFill>
                <a:latin typeface="Calibri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EB87C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01F33"/>
                </a:solidFill>
                <a:latin typeface="Century Gothic"/>
              </a:rPr>
              <a:t>What still needs to be real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27632"/>
            <a:ext cx="1280160" cy="0"/>
          </a:xfrm>
          <a:prstGeom prst="line">
            <a:avLst/>
          </a:prstGeom>
          <a:ln w="31750">
            <a:solidFill>
              <a:srgbClr val="2EB8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74519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47087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01F33"/>
                </a:solidFill>
                <a:latin typeface="Century Gothic"/>
              </a:rPr>
              <a:t>Everything simulated is a hypothesis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21991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0" i="0">
                <a:solidFill>
                  <a:srgbClr val="667184"/>
                </a:solidFill>
                <a:latin typeface="Calibri"/>
              </a:rPr>
              <a:t>12 invented personas, not real ITC responses — none of it may be presented as a finding without confirmation.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71799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71799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944367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01F33"/>
                </a:solidFill>
                <a:latin typeface="Century Gothic"/>
              </a:rPr>
              <a:t>Real evidence comes from the live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19271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0" i="0">
                <a:solidFill>
                  <a:srgbClr val="667184"/>
                </a:solidFill>
                <a:latin typeface="Calibri"/>
              </a:rPr>
              <a:t>The Live Assessment tool collects actual Current/Target ratings from HQ, field, and member-NGO voices.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69079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8B8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69079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041647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01F33"/>
                </a:solidFill>
                <a:latin typeface="Century Gothic"/>
              </a:rPr>
              <a:t>Evidence discipline carries through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416551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0" i="0">
                <a:solidFill>
                  <a:srgbClr val="667184"/>
                </a:solidFill>
                <a:latin typeface="Calibri"/>
              </a:rPr>
              <a:t>Every real answer is tagged FACT / PERCEPTION / INTERPRETATION / UNKNOWN before entering the final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66359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2EB8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66359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38927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01F33"/>
                </a:solidFill>
                <a:latin typeface="Century Gothic"/>
              </a:rPr>
              <a:t>AI use is disclosed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513831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0" i="0">
                <a:solidFill>
                  <a:srgbClr val="667184"/>
                </a:solidFill>
                <a:latin typeface="Calibri"/>
              </a:rPr>
              <a:t>Model design, question drafting, and this deck were built with AI assistance, reviewed and adapted by the team — logged in the AI Use Appendix.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ITC  ×  OERA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667184"/>
                </a:solidFill>
                <a:latin typeface="Calibri"/>
              </a:rPr>
              <a:t>13</a:t>
            </a:r>
          </a:p>
        </p:txBody>
      </p:sp>
      <p:sp>
        <p:nvSpPr>
          <p:cNvPr id="24" name="Oval 23"/>
          <p:cNvSpPr/>
          <p:nvPr/>
        </p:nvSpPr>
        <p:spPr>
          <a:xfrm>
            <a:off x="11871655" y="6400800"/>
            <a:ext cx="82296" cy="82296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17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80015" y="4846320"/>
            <a:ext cx="3291840" cy="3291840"/>
          </a:xfrm>
          <a:prstGeom prst="ellipse">
            <a:avLst/>
          </a:prstGeom>
          <a:solidFill>
            <a:srgbClr val="17C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144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entury Gothic"/>
              </a:rPr>
              <a:t>Thank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3337560"/>
            <a:ext cx="1280160" cy="0"/>
          </a:xfrm>
          <a:prstGeom prst="line">
            <a:avLst/>
          </a:prstGeom>
          <a:ln w="31750">
            <a:solidFill>
              <a:srgbClr val="17C3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3566160"/>
            <a:ext cx="8778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CED9E6"/>
                </a:solidFill>
                <a:latin typeface="Calibri"/>
              </a:rPr>
              <a:t>Next: validate these three priorities with real ITC voices — one HQ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CED9E6"/>
                </a:solidFill>
                <a:latin typeface="Calibri"/>
              </a:rPr>
              <a:t>perspective and one field perspective, asked the same question, back to back.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7C3A0"/>
                </a:solidFill>
                <a:latin typeface="Calibri"/>
              </a:rPr>
              <a:t>Israel Trauma Coalition Partner Project  ·  Organizational Innovation, RUNI MBA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